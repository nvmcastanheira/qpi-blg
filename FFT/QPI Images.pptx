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3" r:id="rId4"/>
    <p:sldId id="258" r:id="rId5"/>
    <p:sldId id="261" r:id="rId6"/>
    <p:sldId id="259" r:id="rId7"/>
    <p:sldId id="260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44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36BDF-34A2-40BC-AE65-327F9AE4DF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310B56-0A5B-4C24-AE77-3F489A00D6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9BD46F-C0AD-47DC-BE4D-524D4532F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E37C8-529B-4A32-81EF-4312CF71A0E6}" type="datetimeFigureOut">
              <a:rPr lang="en-US" smtClean="0"/>
              <a:t>1/21/2022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67AC06-6674-490E-BF32-5AAF4FDB9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DFA3AF-D910-4286-9415-CE2186714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D4997-7D46-4663-B731-33C0195CD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01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81B3A-0A1B-4CE0-B217-C1B1195D7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8D6C57-2FA6-45B9-808E-8D6A32A35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D3A6B3-FC4D-486A-BFC8-735BC46D9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E37C8-529B-4A32-81EF-4312CF71A0E6}" type="datetimeFigureOut">
              <a:rPr lang="en-US" smtClean="0"/>
              <a:t>1/21/2022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84D318-2DCD-4E41-B927-F6199454F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A522E8-95DA-43A5-BE3B-7BB4AAAEC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D4997-7D46-4663-B731-33C0195CD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0906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D0CF6-AEFA-40AF-A57F-7DF58AD8E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E29895-D734-4F8A-B9E4-78C5342E18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269B8D-F1B9-4E5A-B8FF-A80F08A9F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E37C8-529B-4A32-81EF-4312CF71A0E6}" type="datetimeFigureOut">
              <a:rPr lang="en-US" smtClean="0"/>
              <a:t>1/21/2022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81D08C-B1A3-4938-B8C3-C24FAF673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E319D7-9EAA-4E86-93F6-AE08E0D85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D4997-7D46-4663-B731-33C0195CD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2755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CBBB3-A5F9-4A87-8E70-A7A7435E5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BC1B3F-C42C-4A2D-BB35-9D94082F07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DBB587-DCC1-41F0-8717-829EBF7D20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FB35D0-A090-4840-B3A5-1D160E061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E37C8-529B-4A32-81EF-4312CF71A0E6}" type="datetimeFigureOut">
              <a:rPr lang="en-US" smtClean="0"/>
              <a:t>1/21/2022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E02153-F631-4EB1-BB2F-E3F375E77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E1D9BE-EAD5-43CA-AA52-EE180B7DA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D4997-7D46-4663-B731-33C0195CD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563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AB331-C3DF-4B99-AA21-51283B168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255186-C16D-4D99-9522-F562F94DC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4DF358-D6C3-4E83-AC25-13CB61CBB7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4C7069-CAE5-43A3-A702-8FABAAEFF6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F10E4A-CAD5-4120-9139-AD857677D4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4C43B4-7B59-4405-89FF-986AA7DD4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E37C8-529B-4A32-81EF-4312CF71A0E6}" type="datetimeFigureOut">
              <a:rPr lang="en-US" smtClean="0"/>
              <a:t>1/21/2022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99E153-4658-4C90-AC61-B77005D37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AB0BFA-47B4-498C-AD64-1BFB07E4B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D4997-7D46-4663-B731-33C0195CD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7336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B2A34-8F23-463B-A9EA-F58D36DA7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B03FDB-8D29-4A63-890A-AB728E889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E37C8-529B-4A32-81EF-4312CF71A0E6}" type="datetimeFigureOut">
              <a:rPr lang="en-US" smtClean="0"/>
              <a:t>1/21/2022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79AE61-5F09-4013-B581-5F231C608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7C9FFE-6EF2-4A29-861D-16DF0F7C8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D4997-7D46-4663-B731-33C0195CD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823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1A6336-95A8-4F8C-ABF9-A3C554FDF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E37C8-529B-4A32-81EF-4312CF71A0E6}" type="datetimeFigureOut">
              <a:rPr lang="en-US" smtClean="0"/>
              <a:t>1/21/2022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12D290-FD9A-491C-A922-19D6C6F40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F285AE-DF40-4DF4-9B98-B5EDA4C00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D4997-7D46-4663-B731-33C0195CD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3469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8D3C3-A80D-43EF-8A17-38CD7AD08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C92334-82BF-4385-BF08-D83197FE9F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A701BE-AA70-4BB9-8FD0-F64B16BBA8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7C2E4F-894C-4459-B77D-90E29D05C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E37C8-529B-4A32-81EF-4312CF71A0E6}" type="datetimeFigureOut">
              <a:rPr lang="en-US" smtClean="0"/>
              <a:t>1/21/2022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A04CB0-B96B-437D-A64E-4BCD4F129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630251-0233-4F1D-9F0D-11A774A94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D4997-7D46-4663-B731-33C0195CD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797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1EAC0-05F7-4971-8725-7D63AE6DA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CE19BF-6EB6-4F7E-8F5F-17B5AB38DC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E90866-1FC5-475C-9738-BA89BC8A0D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944A9E-3C4D-4386-8706-C294317E5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E37C8-529B-4A32-81EF-4312CF71A0E6}" type="datetimeFigureOut">
              <a:rPr lang="en-US" smtClean="0"/>
              <a:t>1/21/2022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B1D2DC-02AA-49FD-A8D5-2DC9AF4FA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C2AE3C-F7DD-4B0B-A83F-064DD175A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D4997-7D46-4663-B731-33C0195CD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061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90688-F03C-4802-82D4-B4852422F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697AF5-36D8-4A00-9904-1320CCDEA1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643480-A403-4312-915D-F32DACEF1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E37C8-529B-4A32-81EF-4312CF71A0E6}" type="datetimeFigureOut">
              <a:rPr lang="en-US" smtClean="0"/>
              <a:t>1/21/2022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CEDD1E-DCAF-460D-B043-6E900E959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E20B2A-035E-4E1B-B1F8-5AD98381D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D4997-7D46-4663-B731-33C0195CD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808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722465-7FE9-4432-98BA-8AC58051FE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77592F-E84F-439D-AD3A-190E2D0DF7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93F55E-4114-4347-A139-7F6E945CD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E37C8-529B-4A32-81EF-4312CF71A0E6}" type="datetimeFigureOut">
              <a:rPr lang="en-US" smtClean="0"/>
              <a:t>1/21/2022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44ED0D-5542-443B-A3DF-9ADC35009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67B14C-A784-4707-8823-4369FCB67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D4997-7D46-4663-B731-33C0195CD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414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66D886-03B1-4A33-8260-972E7662B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7F422A-575B-4F17-BF4F-266D9344C2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2C1A51-0E96-4BB4-B700-5237FF1899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5E37C8-529B-4A32-81EF-4312CF71A0E6}" type="datetimeFigureOut">
              <a:rPr lang="en-US" smtClean="0"/>
              <a:t>1/21/2022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5BF20-1292-44C9-AD0D-FC8E1E14B9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6C7D1B-A840-414F-A537-231714D89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CD4997-7D46-4663-B731-33C0195CD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304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journals.aps.org/prb/abstract/10.1103/PhysRevB.80.245317" TargetMode="External"/><Relationship Id="rId2" Type="http://schemas.openxmlformats.org/officeDocument/2006/relationships/hyperlink" Target="https://journals.aps.org/prb/abstract/10.1103/PhysRevB.95.115307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11842-8059-4015-B91D-72049D42ED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QPI Images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FEC3300F-A751-49AE-8B71-12BCDFFD6680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1524000" y="3602038"/>
                <a:ext cx="9144000" cy="2595562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sz="1900" dirty="0"/>
                  <a:t>(Produced with the </a:t>
                </a:r>
                <a14:m>
                  <m:oMath xmlns:m="http://schemas.openxmlformats.org/officeDocument/2006/math">
                    <m:r>
                      <a:rPr lang="en-US" sz="19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19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9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9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p>
                            <m:r>
                              <a:rPr lang="en-US" sz="19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900" b="0" i="1" smtClean="0">
                            <a:latin typeface="Cambria Math" panose="02040503050406030204" pitchFamily="18" charset="0"/>
                          </a:rPr>
                          <m:t>𝐿𝑜</m:t>
                        </m:r>
                        <m:sSub>
                          <m:sSubPr>
                            <m:ctrlPr>
                              <a:rPr lang="en-US" sz="19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9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sz="19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9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  <m:r>
                      <a:rPr lang="en-US" sz="19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900" dirty="0"/>
                  <a:t>algorithm in </a:t>
                </a:r>
                <a:r>
                  <a:rPr lang="en-US" sz="1900" i="1" dirty="0" err="1"/>
                  <a:t>Kohsaka</a:t>
                </a:r>
                <a:r>
                  <a:rPr lang="en-US" sz="1900" dirty="0"/>
                  <a:t> unless otherwise stated)</a:t>
                </a:r>
              </a:p>
              <a:p>
                <a:endParaRPr lang="en-US" sz="1900" dirty="0"/>
              </a:p>
              <a:p>
                <a:r>
                  <a:rPr lang="en-US" sz="1900" dirty="0"/>
                  <a:t>References: </a:t>
                </a:r>
              </a:p>
              <a:p>
                <a:r>
                  <a:rPr lang="en-US" sz="1900" dirty="0"/>
                  <a:t>For the </a:t>
                </a:r>
                <a14:m>
                  <m:oMath xmlns:m="http://schemas.openxmlformats.org/officeDocument/2006/math">
                    <m:r>
                      <a:rPr lang="en-US" sz="19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19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9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9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p>
                            <m:r>
                              <a:rPr lang="en-US" sz="19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900" b="0" i="1" smtClean="0">
                            <a:latin typeface="Cambria Math" panose="02040503050406030204" pitchFamily="18" charset="0"/>
                          </a:rPr>
                          <m:t>𝐿𝑜</m:t>
                        </m:r>
                        <m:sSub>
                          <m:sSubPr>
                            <m:ctrlPr>
                              <a:rPr lang="en-US" sz="19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9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sz="19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9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</m:oMath>
                </a14:m>
                <a:r>
                  <a:rPr lang="en-US" sz="1900" dirty="0"/>
                  <a:t> methodology consult: </a:t>
                </a:r>
              </a:p>
              <a:p>
                <a:r>
                  <a:rPr lang="en-US" sz="1900" u="sng" dirty="0">
                    <a:solidFill>
                      <a:srgbClr val="0563C1"/>
                    </a:solidFill>
                    <a:effectLst/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  <a:hlinkClick r:id="rId2"/>
                  </a:rPr>
                  <a:t>https://journals.aps.org/prb/abstract/10.1103/PhysRevB.95.115307</a:t>
                </a:r>
                <a:endParaRPr lang="en-US" sz="1900" u="sng" dirty="0">
                  <a:solidFill>
                    <a:srgbClr val="0563C1"/>
                  </a:solidFill>
                  <a:effectLst/>
                  <a:latin typeface="Times New Roman" panose="02020603050405020304" pitchFamily="18" charset="0"/>
                  <a:ea typeface="PMingLiU" panose="02020500000000000000" pitchFamily="18" charset="-120"/>
                  <a:cs typeface="Times New Roman" panose="02020603050405020304" pitchFamily="18" charset="0"/>
                </a:endParaRPr>
              </a:p>
              <a:p>
                <a:r>
                  <a:rPr lang="en-US" sz="1900" dirty="0"/>
                  <a:t>For original images:</a:t>
                </a:r>
              </a:p>
              <a:p>
                <a:r>
                  <a:rPr lang="en-US" sz="1900" u="sng" dirty="0">
                    <a:solidFill>
                      <a:srgbClr val="0563C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  <a:hlinkClick r:id="rId3"/>
                  </a:rPr>
                  <a:t>https://journals.aps.org/prb/abstract/10.1103/PhysRevB.80.245317</a:t>
                </a:r>
                <a:endParaRPr lang="en-US" sz="1900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FEC3300F-A751-49AE-8B71-12BCDFFD668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1524000" y="3602038"/>
                <a:ext cx="9144000" cy="2595562"/>
              </a:xfrm>
              <a:blipFill>
                <a:blip r:embed="rId4"/>
                <a:stretch>
                  <a:fillRect t="-30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90027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30A4A-C444-4FEE-A843-C36944C63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" name="Content Placeholder 10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751F5B31-5DAB-4F95-89CE-2ED70341CF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1581" y="236478"/>
            <a:ext cx="3378032" cy="3175981"/>
          </a:xfrm>
        </p:spPr>
      </p:pic>
      <p:pic>
        <p:nvPicPr>
          <p:cNvPr id="13" name="Picture 12" descr="A picture containing light&#10;&#10;Description automatically generated">
            <a:extLst>
              <a:ext uri="{FF2B5EF4-FFF2-40B4-BE49-F238E27FC236}">
                <a16:creationId xmlns:a16="http://schemas.microsoft.com/office/drawing/2014/main" id="{843D6E9D-3D07-46A7-8793-46A5B722AA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1581" y="3432913"/>
            <a:ext cx="3378032" cy="3188609"/>
          </a:xfrm>
          <a:prstGeom prst="rect">
            <a:avLst/>
          </a:prstGeom>
        </p:spPr>
      </p:pic>
      <p:pic>
        <p:nvPicPr>
          <p:cNvPr id="15" name="Picture 14" descr="Diagram&#10;&#10;Description automatically generated">
            <a:extLst>
              <a:ext uri="{FF2B5EF4-FFF2-40B4-BE49-F238E27FC236}">
                <a16:creationId xmlns:a16="http://schemas.microsoft.com/office/drawing/2014/main" id="{9D96021A-E65B-4CB7-9853-E86108A181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9454" y="295552"/>
            <a:ext cx="3613099" cy="3188608"/>
          </a:xfrm>
          <a:prstGeom prst="rect">
            <a:avLst/>
          </a:prstGeom>
        </p:spPr>
      </p:pic>
      <p:pic>
        <p:nvPicPr>
          <p:cNvPr id="17" name="Picture 16" descr="Chart, radar chart&#10;&#10;Description automatically generated">
            <a:extLst>
              <a:ext uri="{FF2B5EF4-FFF2-40B4-BE49-F238E27FC236}">
                <a16:creationId xmlns:a16="http://schemas.microsoft.com/office/drawing/2014/main" id="{AF93A3F0-1E14-472D-B528-F1B9C3A73E2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7458" y="3484160"/>
            <a:ext cx="3986400" cy="319975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E0FF41C-BF7A-4F06-8281-04F5FDC5C548}"/>
              </a:ext>
            </a:extLst>
          </p:cNvPr>
          <p:cNvSpPr txBox="1"/>
          <p:nvPr/>
        </p:nvSpPr>
        <p:spPr>
          <a:xfrm>
            <a:off x="1034473" y="1705190"/>
            <a:ext cx="20874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Figure (1) (Reproduction vs. original paper.)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89F13B7-D4B7-40C1-986D-F840E562ECDE}"/>
              </a:ext>
            </a:extLst>
          </p:cNvPr>
          <p:cNvSpPr txBox="1"/>
          <p:nvPr/>
        </p:nvSpPr>
        <p:spPr>
          <a:xfrm>
            <a:off x="1034473" y="4714703"/>
            <a:ext cx="2087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Figure (2)</a:t>
            </a:r>
          </a:p>
        </p:txBody>
      </p:sp>
    </p:spTree>
    <p:extLst>
      <p:ext uri="{BB962C8B-B14F-4D97-AF65-F5344CB8AC3E}">
        <p14:creationId xmlns:p14="http://schemas.microsoft.com/office/powerpoint/2010/main" val="22631593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34465-24FD-4049-841C-DB656A993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Chart&#10;&#10;Description automatically generated">
            <a:extLst>
              <a:ext uri="{FF2B5EF4-FFF2-40B4-BE49-F238E27FC236}">
                <a16:creationId xmlns:a16="http://schemas.microsoft.com/office/drawing/2014/main" id="{9254B0F3-9D82-4475-BA07-8C290F6E02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477" y="3381281"/>
            <a:ext cx="3408524" cy="3111594"/>
          </a:xfrm>
        </p:spPr>
      </p:pic>
      <p:pic>
        <p:nvPicPr>
          <p:cNvPr id="7" name="Picture 6" descr="Chart, line chart&#10;&#10;Description automatically generated">
            <a:extLst>
              <a:ext uri="{FF2B5EF4-FFF2-40B4-BE49-F238E27FC236}">
                <a16:creationId xmlns:a16="http://schemas.microsoft.com/office/drawing/2014/main" id="{E6F30DF7-C0CF-448B-A33C-D7943B5BB2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477" y="269686"/>
            <a:ext cx="3408526" cy="311159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F9FE9AD-5A4D-4AEA-9091-82427E641B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4432" y="737805"/>
            <a:ext cx="4488007" cy="494035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2964A9A-091F-4634-9A05-6105474AE7EE}"/>
              </a:ext>
            </a:extLst>
          </p:cNvPr>
          <p:cNvSpPr txBox="1"/>
          <p:nvPr/>
        </p:nvSpPr>
        <p:spPr>
          <a:xfrm>
            <a:off x="9217891" y="1487055"/>
            <a:ext cx="2318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Fig. (3)</a:t>
            </a:r>
          </a:p>
        </p:txBody>
      </p:sp>
    </p:spTree>
    <p:extLst>
      <p:ext uri="{BB962C8B-B14F-4D97-AF65-F5344CB8AC3E}">
        <p14:creationId xmlns:p14="http://schemas.microsoft.com/office/powerpoint/2010/main" val="34645938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FF0CC-DB9B-413F-85AC-86EF217A3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picture containing text, clothing, armor&#10;&#10;Description automatically generated">
            <a:extLst>
              <a:ext uri="{FF2B5EF4-FFF2-40B4-BE49-F238E27FC236}">
                <a16:creationId xmlns:a16="http://schemas.microsoft.com/office/drawing/2014/main" id="{AD2BCB6C-DA04-4FBB-BF31-D9B88D8895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5833" y="521241"/>
            <a:ext cx="3365446" cy="2949887"/>
          </a:xfrm>
        </p:spPr>
      </p:pic>
      <p:pic>
        <p:nvPicPr>
          <p:cNvPr id="7" name="Picture 6" descr="A picture containing text, clothing&#10;&#10;Description automatically generated">
            <a:extLst>
              <a:ext uri="{FF2B5EF4-FFF2-40B4-BE49-F238E27FC236}">
                <a16:creationId xmlns:a16="http://schemas.microsoft.com/office/drawing/2014/main" id="{5F7DD66B-B812-4E4F-A52A-56B5080980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313" y="521242"/>
            <a:ext cx="3365446" cy="2949887"/>
          </a:xfrm>
          <a:prstGeom prst="rect">
            <a:avLst/>
          </a:prstGeom>
        </p:spPr>
      </p:pic>
      <p:pic>
        <p:nvPicPr>
          <p:cNvPr id="11" name="Picture 10" descr="A close-up of a candle&#10;&#10;Description automatically generated with low confidence">
            <a:extLst>
              <a:ext uri="{FF2B5EF4-FFF2-40B4-BE49-F238E27FC236}">
                <a16:creationId xmlns:a16="http://schemas.microsoft.com/office/drawing/2014/main" id="{61EBDB11-8E92-4406-9762-B362D8AA6E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313" y="3592829"/>
            <a:ext cx="3365446" cy="294988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19458D2-B21E-45E0-9AAD-97DB3620D75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6854"/>
          <a:stretch/>
        </p:blipFill>
        <p:spPr>
          <a:xfrm>
            <a:off x="4203646" y="3653957"/>
            <a:ext cx="3758168" cy="283891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7E03D26-7C48-409E-B693-FC8413A332D0}"/>
                  </a:ext>
                </a:extLst>
              </p:cNvPr>
              <p:cNvSpPr txBox="1"/>
              <p:nvPr/>
            </p:nvSpPr>
            <p:spPr>
              <a:xfrm>
                <a:off x="8700940" y="1923067"/>
                <a:ext cx="3280528" cy="25853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Top: Figure (5)(a) reproductions with N = 128, 400 grids respectively. 128 Resembles original more (perhaps matching a lower resolution?)</a:t>
                </a:r>
              </a:p>
              <a:p>
                <a:endParaRPr lang="en-US" dirty="0"/>
              </a:p>
              <a:p>
                <a:r>
                  <a:rPr lang="en-US" dirty="0"/>
                  <a:t>Bottom: Figure (5)(a) reproduction with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code, and original picture, respectively.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7E03D26-7C48-409E-B693-FC8413A332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0940" y="1923067"/>
                <a:ext cx="3280528" cy="2585323"/>
              </a:xfrm>
              <a:prstGeom prst="rect">
                <a:avLst/>
              </a:prstGeom>
              <a:blipFill>
                <a:blip r:embed="rId6"/>
                <a:stretch>
                  <a:fillRect l="-1487" t="-1176" r="-1487" b="-25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4694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1EA10-838A-43B9-9BC7-B3292B357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picture containing square&#10;&#10;Description automatically generated">
            <a:extLst>
              <a:ext uri="{FF2B5EF4-FFF2-40B4-BE49-F238E27FC236}">
                <a16:creationId xmlns:a16="http://schemas.microsoft.com/office/drawing/2014/main" id="{DDB329E4-AE15-4780-BDDA-3294ECB05D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2182" y="365125"/>
            <a:ext cx="3124199" cy="2738429"/>
          </a:xfrm>
        </p:spPr>
      </p:pic>
      <p:pic>
        <p:nvPicPr>
          <p:cNvPr id="7" name="Picture 6" descr="A picture containing text&#10;&#10;Description automatically generated">
            <a:extLst>
              <a:ext uri="{FF2B5EF4-FFF2-40B4-BE49-F238E27FC236}">
                <a16:creationId xmlns:a16="http://schemas.microsoft.com/office/drawing/2014/main" id="{C8AE7D52-0C4E-4E31-A393-52B81C644D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8091" y="321473"/>
            <a:ext cx="3124200" cy="273842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CAE02C9-958A-43F5-BB03-DB453E87C6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3429000"/>
            <a:ext cx="4724400" cy="3200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2613EAB-A6BF-41C1-8A98-07104671A43A}"/>
              </a:ext>
            </a:extLst>
          </p:cNvPr>
          <p:cNvSpPr txBox="1"/>
          <p:nvPr/>
        </p:nvSpPr>
        <p:spPr>
          <a:xfrm>
            <a:off x="6751782" y="4137891"/>
            <a:ext cx="303876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Top: Figure (5)(b) reproductions with N = 128, 400 grids respectively.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Bottom: Original Figure (5)(b).</a:t>
            </a:r>
          </a:p>
        </p:txBody>
      </p:sp>
    </p:spTree>
    <p:extLst>
      <p:ext uri="{BB962C8B-B14F-4D97-AF65-F5344CB8AC3E}">
        <p14:creationId xmlns:p14="http://schemas.microsoft.com/office/powerpoint/2010/main" val="24558187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3B9FD-4280-4C73-B929-D0D0CF6C5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picture containing text, underpants&#10;&#10;Description automatically generated">
            <a:extLst>
              <a:ext uri="{FF2B5EF4-FFF2-40B4-BE49-F238E27FC236}">
                <a16:creationId xmlns:a16="http://schemas.microsoft.com/office/drawing/2014/main" id="{7CCC243F-378E-4F03-A253-4CECC1FBB6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2155" y="214721"/>
            <a:ext cx="3581288" cy="3139077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75C8D5E-D920-45EC-BDCF-56B29F3ACC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3844" y="214721"/>
            <a:ext cx="3581288" cy="313907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92177A6-0955-4601-B635-6873D331DA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1574" y="3676650"/>
            <a:ext cx="4362450" cy="318135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4245AB9-2BC1-42B0-9239-C343E648CD68}"/>
              </a:ext>
            </a:extLst>
          </p:cNvPr>
          <p:cNvSpPr txBox="1"/>
          <p:nvPr/>
        </p:nvSpPr>
        <p:spPr>
          <a:xfrm>
            <a:off x="6819724" y="4327436"/>
            <a:ext cx="302952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Top: Figure (6) reproductions with N = 128, 400 grids respectively.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Bottom: Original Figure (5)(b).</a:t>
            </a:r>
          </a:p>
        </p:txBody>
      </p:sp>
    </p:spTree>
    <p:extLst>
      <p:ext uri="{BB962C8B-B14F-4D97-AF65-F5344CB8AC3E}">
        <p14:creationId xmlns:p14="http://schemas.microsoft.com/office/powerpoint/2010/main" val="8588296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text, picture frame&#10;&#10;Description automatically generated">
            <a:extLst>
              <a:ext uri="{FF2B5EF4-FFF2-40B4-BE49-F238E27FC236}">
                <a16:creationId xmlns:a16="http://schemas.microsoft.com/office/drawing/2014/main" id="{11136FB2-8718-4C7E-A26E-59745156B8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595" y="355888"/>
            <a:ext cx="3492064" cy="3200000"/>
          </a:xfrm>
          <a:prstGeom prst="rect">
            <a:avLst/>
          </a:prstGeom>
        </p:spPr>
      </p:pic>
      <p:pic>
        <p:nvPicPr>
          <p:cNvPr id="11" name="Content Placeholder 10" descr="Shape, square&#10;&#10;Description automatically generated">
            <a:extLst>
              <a:ext uri="{FF2B5EF4-FFF2-40B4-BE49-F238E27FC236}">
                <a16:creationId xmlns:a16="http://schemas.microsoft.com/office/drawing/2014/main" id="{BD262249-A6A1-401D-A709-AAF1635495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595" y="3555888"/>
            <a:ext cx="3492064" cy="3200001"/>
          </a:xfr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A262328-C2B7-44BF-BDCB-4195B68BF4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9900" y="257175"/>
            <a:ext cx="4038600" cy="634365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C353B58-4CF3-4267-BAD8-450C77D59C9F}"/>
                  </a:ext>
                </a:extLst>
              </p:cNvPr>
              <p:cNvSpPr txBox="1"/>
              <p:nvPr/>
            </p:nvSpPr>
            <p:spPr>
              <a:xfrm>
                <a:off x="8645237" y="1371799"/>
                <a:ext cx="3029527" cy="28623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Left: Figure (7)(a), (7)(b) reproductions respectively, with N = 400 grids.</a:t>
                </a:r>
              </a:p>
              <a:p>
                <a:endParaRPr lang="en-US" dirty="0"/>
              </a:p>
              <a:p>
                <a:r>
                  <a:rPr lang="en-US" dirty="0"/>
                  <a:t>Right: Original Figure (7)(a, b).</a:t>
                </a:r>
              </a:p>
              <a:p>
                <a:endParaRPr lang="en-US" dirty="0"/>
              </a:p>
              <a:p>
                <a:r>
                  <a:rPr lang="en-US" dirty="0"/>
                  <a:t>Note: It is particularly emphasized that FT-LDOS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≈0,</m:t>
                    </m:r>
                  </m:oMath>
                </a14:m>
                <a:r>
                  <a:rPr lang="en-US" dirty="0"/>
                  <a:t> which might justify difference in magnitude between figures.</a:t>
                </a: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C353B58-4CF3-4267-BAD8-450C77D59C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5237" y="1371799"/>
                <a:ext cx="3029527" cy="2862322"/>
              </a:xfrm>
              <a:prstGeom prst="rect">
                <a:avLst/>
              </a:prstGeom>
              <a:blipFill>
                <a:blip r:embed="rId5"/>
                <a:stretch>
                  <a:fillRect l="-1610" t="-1064" r="-1811" b="-23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16089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7951A-ABE2-451E-B904-6571A25F9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1" name="Content Placeholder 20" descr="A close-up of a flag&#10;&#10;Description automatically generated with low confidence">
            <a:extLst>
              <a:ext uri="{FF2B5EF4-FFF2-40B4-BE49-F238E27FC236}">
                <a16:creationId xmlns:a16="http://schemas.microsoft.com/office/drawing/2014/main" id="{0A98BF35-041A-492E-8C4C-9E56A7F6C2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9201" y="70678"/>
            <a:ext cx="3604612" cy="3159521"/>
          </a:xfrm>
        </p:spPr>
      </p:pic>
      <p:pic>
        <p:nvPicPr>
          <p:cNvPr id="23" name="Picture 22" descr="A picture containing text, monitor&#10;&#10;Description automatically generated">
            <a:extLst>
              <a:ext uri="{FF2B5EF4-FFF2-40B4-BE49-F238E27FC236}">
                <a16:creationId xmlns:a16="http://schemas.microsoft.com/office/drawing/2014/main" id="{ED67BCC0-DD11-4F79-B2B5-901BCAF09F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8187" y="110927"/>
            <a:ext cx="3604612" cy="315952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22D1455F-90D7-45F8-AAC1-17A905BFB2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9280" y="3524646"/>
            <a:ext cx="4162425" cy="3000375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498754C4-8796-4E1F-B185-89EA733EFB5B}"/>
              </a:ext>
            </a:extLst>
          </p:cNvPr>
          <p:cNvSpPr txBox="1"/>
          <p:nvPr/>
        </p:nvSpPr>
        <p:spPr>
          <a:xfrm>
            <a:off x="6819724" y="4327436"/>
            <a:ext cx="302952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Top: Figure (8)(a) reproductions with N = 128, 400 grids respectively.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Bottom: Original Figure (5)(b).</a:t>
            </a:r>
          </a:p>
        </p:txBody>
      </p:sp>
    </p:spTree>
    <p:extLst>
      <p:ext uri="{BB962C8B-B14F-4D97-AF65-F5344CB8AC3E}">
        <p14:creationId xmlns:p14="http://schemas.microsoft.com/office/powerpoint/2010/main" val="36161359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6EF3F-08E4-4F2E-96F1-B9EFA7E70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picture containing text, monitor, television, screen&#10;&#10;Description automatically generated">
            <a:extLst>
              <a:ext uri="{FF2B5EF4-FFF2-40B4-BE49-F238E27FC236}">
                <a16:creationId xmlns:a16="http://schemas.microsoft.com/office/drawing/2014/main" id="{83E0CC54-1B7F-4A1C-9E34-E5DDD46290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3270" y="179098"/>
            <a:ext cx="3657494" cy="3339451"/>
          </a:xfrm>
        </p:spPr>
      </p:pic>
      <p:pic>
        <p:nvPicPr>
          <p:cNvPr id="7" name="Picture 6" descr="A picture containing text, monitor, television, screen&#10;&#10;Description automatically generated">
            <a:extLst>
              <a:ext uri="{FF2B5EF4-FFF2-40B4-BE49-F238E27FC236}">
                <a16:creationId xmlns:a16="http://schemas.microsoft.com/office/drawing/2014/main" id="{84BEF7CC-7CA7-4303-ADF7-548015B718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1238" y="179098"/>
            <a:ext cx="3657494" cy="333945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8CC4DE3-1467-4BCA-9D42-85F422F453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4450" y="3518549"/>
            <a:ext cx="4076700" cy="30289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B7B8A7F-7181-486B-A292-25780B6E122C}"/>
              </a:ext>
            </a:extLst>
          </p:cNvPr>
          <p:cNvSpPr txBox="1"/>
          <p:nvPr/>
        </p:nvSpPr>
        <p:spPr>
          <a:xfrm>
            <a:off x="6800852" y="3985691"/>
            <a:ext cx="302952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Top: Figure (8)(b) reproductions with N = 128, 400 grids respectively. Hexagonal warping appears to be present, but opacity is an issue towards visualizing it.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Bottom: Original Figure (5)(b).</a:t>
            </a:r>
          </a:p>
        </p:txBody>
      </p:sp>
    </p:spTree>
    <p:extLst>
      <p:ext uri="{BB962C8B-B14F-4D97-AF65-F5344CB8AC3E}">
        <p14:creationId xmlns:p14="http://schemas.microsoft.com/office/powerpoint/2010/main" val="29782351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1AE68-694A-403C-A3CB-56B697CB6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picture containing text&#10;&#10;Description automatically generated">
            <a:extLst>
              <a:ext uri="{FF2B5EF4-FFF2-40B4-BE49-F238E27FC236}">
                <a16:creationId xmlns:a16="http://schemas.microsoft.com/office/drawing/2014/main" id="{06440CA1-CA28-4536-9806-84F120C74E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282" y="92363"/>
            <a:ext cx="3561071" cy="3121357"/>
          </a:xfrm>
        </p:spPr>
      </p:pic>
      <p:pic>
        <p:nvPicPr>
          <p:cNvPr id="7" name="Picture 6" descr="A picture containing text&#10;&#10;Description automatically generated">
            <a:extLst>
              <a:ext uri="{FF2B5EF4-FFF2-40B4-BE49-F238E27FC236}">
                <a16:creationId xmlns:a16="http://schemas.microsoft.com/office/drawing/2014/main" id="{8E090244-150F-49A0-83D3-BBCA9D90CB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496498"/>
            <a:ext cx="3561071" cy="31213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AF956C2-2149-4ECD-92AB-A652380091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6202" y="447675"/>
            <a:ext cx="4400550" cy="59626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9552345-524D-4F33-B1E3-19D37E712A3A}"/>
              </a:ext>
            </a:extLst>
          </p:cNvPr>
          <p:cNvSpPr txBox="1"/>
          <p:nvPr/>
        </p:nvSpPr>
        <p:spPr>
          <a:xfrm>
            <a:off x="8700940" y="1923067"/>
            <a:ext cx="328052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Left: Figure (9) reproductions (real, and imaginary parts respectively) with N = 400 grids. </a:t>
            </a:r>
          </a:p>
          <a:p>
            <a:endParaRPr lang="en-US" dirty="0"/>
          </a:p>
          <a:p>
            <a:r>
              <a:rPr lang="en-US" dirty="0"/>
              <a:t>Right: Figure 9 original (real, and imaginary respectively).</a:t>
            </a:r>
          </a:p>
          <a:p>
            <a:endParaRPr lang="en-US" dirty="0"/>
          </a:p>
          <a:p>
            <a:r>
              <a:rPr lang="en-US" dirty="0"/>
              <a:t>FT-SLDOS calculations seem by far to be the least accurate.</a:t>
            </a:r>
          </a:p>
        </p:txBody>
      </p:sp>
    </p:spTree>
    <p:extLst>
      <p:ext uri="{BB962C8B-B14F-4D97-AF65-F5344CB8AC3E}">
        <p14:creationId xmlns:p14="http://schemas.microsoft.com/office/powerpoint/2010/main" val="30464213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picture containing text, nature&#10;&#10;Description automatically generated">
            <a:extLst>
              <a:ext uri="{FF2B5EF4-FFF2-40B4-BE49-F238E27FC236}">
                <a16:creationId xmlns:a16="http://schemas.microsoft.com/office/drawing/2014/main" id="{D4432CFD-C013-440F-8271-5C629D3F56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564" y="291235"/>
            <a:ext cx="3437952" cy="3013440"/>
          </a:xfrm>
        </p:spPr>
      </p:pic>
      <p:pic>
        <p:nvPicPr>
          <p:cNvPr id="7" name="Picture 6" descr="A picture containing text&#10;&#10;Description automatically generated">
            <a:extLst>
              <a:ext uri="{FF2B5EF4-FFF2-40B4-BE49-F238E27FC236}">
                <a16:creationId xmlns:a16="http://schemas.microsoft.com/office/drawing/2014/main" id="{90F5343F-2E2C-42CC-AF9C-A1F9731EEC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564" y="3429001"/>
            <a:ext cx="3437952" cy="30134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D378E7C-3AB8-4600-AA31-D715CBF77C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8125" y="423862"/>
            <a:ext cx="4095750" cy="601027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44E11FB-520B-4DE2-8E59-AF0D9FD505BC}"/>
              </a:ext>
            </a:extLst>
          </p:cNvPr>
          <p:cNvSpPr txBox="1"/>
          <p:nvPr/>
        </p:nvSpPr>
        <p:spPr>
          <a:xfrm>
            <a:off x="8331485" y="1897204"/>
            <a:ext cx="328052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Left: Figure (10) reproductions (real, and imaginary parts respectively) with N = 400 grids. </a:t>
            </a:r>
          </a:p>
          <a:p>
            <a:endParaRPr lang="en-US" dirty="0"/>
          </a:p>
          <a:p>
            <a:r>
              <a:rPr lang="en-US" dirty="0"/>
              <a:t>Right: Figure 10 original (real, and imaginary respectively).</a:t>
            </a:r>
          </a:p>
        </p:txBody>
      </p:sp>
    </p:spTree>
    <p:extLst>
      <p:ext uri="{BB962C8B-B14F-4D97-AF65-F5344CB8AC3E}">
        <p14:creationId xmlns:p14="http://schemas.microsoft.com/office/powerpoint/2010/main" val="30846291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</TotalTime>
  <Words>389</Words>
  <Application>Microsoft Office PowerPoint</Application>
  <PresentationFormat>Widescreen</PresentationFormat>
  <Paragraphs>39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Cambria Math</vt:lpstr>
      <vt:lpstr>Times New Roman</vt:lpstr>
      <vt:lpstr>Office Theme</vt:lpstr>
      <vt:lpstr>QPI Images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QPI Images</dc:title>
  <dc:creator>Mendes Castanheira, Nuno Vinicius</dc:creator>
  <cp:lastModifiedBy>Mendes Castanheira, Nuno Vinicius</cp:lastModifiedBy>
  <cp:revision>4</cp:revision>
  <dcterms:created xsi:type="dcterms:W3CDTF">2022-01-21T14:04:22Z</dcterms:created>
  <dcterms:modified xsi:type="dcterms:W3CDTF">2022-01-21T16:51:53Z</dcterms:modified>
</cp:coreProperties>
</file>